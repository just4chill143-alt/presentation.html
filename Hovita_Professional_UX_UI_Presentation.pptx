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046720" y="0"/>
            <a:ext cx="4144975" cy="1051560"/>
          </a:xfrm>
          <a:prstGeom prst="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3474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Hovita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877824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ptos"/>
              </a:rPr>
              <a:t>AI-POWERED HEALTHCARE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A254E"/>
                </a:solidFill>
                <a:latin typeface="Aptos"/>
              </a:rPr>
              <a:t>UX / UI &amp; Web Product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423160"/>
            <a:ext cx="7498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B6C80"/>
                </a:solidFill>
                <a:latin typeface="Aptos"/>
              </a:rPr>
              <a:t>A professional blueprint for turning Hovita into a simple, trusted and scalable digital healthcare ecosystem.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429000"/>
            <a:ext cx="105156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47929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TRUST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38528" y="3429000"/>
            <a:ext cx="132588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38528" y="347929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SIMPLICITY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3429000"/>
            <a:ext cx="1417320" cy="329184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3479292"/>
            <a:ext cx="1417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INTELLIGENCE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1768" y="3429000"/>
            <a:ext cx="96012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3479292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CARE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26679" y="1508760"/>
            <a:ext cx="342900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75564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5BC7"/>
                </a:solidFill>
                <a:latin typeface="Aptos"/>
              </a:rPr>
              <a:t>HOVITA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240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Good morning 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78608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Aptos"/>
              </a:rPr>
              <a:t>How can we help today?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2926080"/>
            <a:ext cx="2834640" cy="475488"/>
          </a:xfrm>
          <a:prstGeom prst="roundRect">
            <a:avLst/>
          </a:prstGeom>
          <a:solidFill>
            <a:srgbClr val="F6F9FC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305409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🔍  Search doctors, symptoms...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6118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65592" y="3776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65592" y="3794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👨‍⚕️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59368" y="3776472"/>
            <a:ext cx="475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Doctors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464040" y="361188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628632" y="3776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28632" y="3794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8" y="3776472"/>
            <a:ext cx="475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Records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01000" y="438912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165592" y="455371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65592" y="45720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💊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59368" y="4553712"/>
            <a:ext cx="475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Medicines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64040" y="4389120"/>
            <a:ext cx="1298448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628632" y="455371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28632" y="45720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22408" y="4553712"/>
            <a:ext cx="47548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Assistant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01000" y="5230368"/>
            <a:ext cx="2788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A254E"/>
                </a:solidFill>
                <a:latin typeface="Aptos"/>
              </a:rPr>
              <a:t>Your Health. One Simple Platform.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01  Product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What Hovita should feel like when a user opens the website.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58191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58191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Trust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302666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Healthcare is sensitive. Every interaction should communicate privacy, reliability and verified care.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58191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5819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Simplicity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039112"/>
            <a:ext cx="302666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Reduce cognitive load. Users should quickly understand what to do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417320"/>
            <a:ext cx="342900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1" y="158191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58191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Intelligence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2039112"/>
            <a:ext cx="3026664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Use AI to make search, guidance and health management smarter—not more complicated.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4290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6C80"/>
                </a:solidFill>
                <a:latin typeface="Aptos"/>
              </a:rPr>
              <a:t>Design principle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>
                <a:solidFill>
                  <a:srgbClr val="0A254E"/>
                </a:solidFill>
                <a:latin typeface="Aptos"/>
              </a:rPr>
              <a:t>“Complex healthcare journeys should feel like one simple journey.”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8006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B6C80"/>
                </a:solidFill>
                <a:latin typeface="Aptos"/>
              </a:rPr>
              <a:t>Hovita is positioned as a complete digital healthcare ecosystem—not just a brochure website.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02  Users &amp;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Design the experience around distinct roles, not one generic interface.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58191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581912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Patients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39112"/>
            <a:ext cx="16550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Appointments, records, medicines, family health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141732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044952" y="158191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1581912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Doctors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81528" y="2039112"/>
            <a:ext cx="16550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Schedule, consultations, prescriptions, patient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41732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330952" y="158191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0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4728" y="1581912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Hospitals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039112"/>
            <a:ext cx="16550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Operations, departments, patient flow, integration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52360" y="141732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616952" y="158191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16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8" y="1581912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Labs &amp; Pharmacy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53528" y="2039112"/>
            <a:ext cx="16550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Orders, reports, prescriptions, fulfilment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38360" y="1417320"/>
            <a:ext cx="205740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02952" y="158191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1600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96728" y="1581912"/>
            <a:ext cx="1234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Insurance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39528" y="2039112"/>
            <a:ext cx="165506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Coverage, claims and secure information exchange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8862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Shared platform layer</a:t>
            </a:r>
          </a:p>
        </p:txBody>
      </p:sp>
      <p:sp>
        <p:nvSpPr>
          <p:cNvPr id="31" name="Oval 30"/>
          <p:cNvSpPr/>
          <p:nvPr/>
        </p:nvSpPr>
        <p:spPr>
          <a:xfrm>
            <a:off x="822960" y="4480560"/>
            <a:ext cx="658368" cy="65836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Patient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481328" y="4800600"/>
            <a:ext cx="1124712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651760" y="4480560"/>
            <a:ext cx="658368" cy="65836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6517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Doctor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800600"/>
            <a:ext cx="1124711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480560" y="4480560"/>
            <a:ext cx="658368" cy="65836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519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Hospital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38928" y="4800600"/>
            <a:ext cx="1124712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309360" y="4480560"/>
            <a:ext cx="658368" cy="65836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093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Lab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967728" y="4800600"/>
            <a:ext cx="1124711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138160" y="4480560"/>
            <a:ext cx="658368" cy="65836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095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Pharmacy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796528" y="4800600"/>
            <a:ext cx="1124711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966960" y="4480560"/>
            <a:ext cx="658368" cy="65836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66960" y="4681728"/>
            <a:ext cx="6583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38360" y="523036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Insurance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03  Visual Design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A calm healthcare palette with strong accessibility and clear hierarchy.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874519" cy="1051560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60604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54E"/>
                </a:solidFill>
                <a:latin typeface="Aptos"/>
              </a:rPr>
              <a:t>Hovita Blue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803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#145BC7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1417320"/>
            <a:ext cx="1874519" cy="1051560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360" y="260604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54E"/>
                </a:solidFill>
                <a:latin typeface="Aptos"/>
              </a:rPr>
              <a:t>Hovita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8803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#1F9D47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0640" y="1417320"/>
            <a:ext cx="1874519" cy="1051560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260604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54E"/>
                </a:solidFill>
                <a:latin typeface="Aptos"/>
              </a:rPr>
              <a:t>Deep Navy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28803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#0A254E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417320"/>
            <a:ext cx="1874519" cy="1051560"/>
          </a:xfrm>
          <a:prstGeom prst="round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260604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54E"/>
                </a:solidFill>
                <a:latin typeface="Aptos"/>
              </a:rPr>
              <a:t>Soft Background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28803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#F6F9FC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1417320"/>
            <a:ext cx="1874519" cy="1051560"/>
          </a:xfrm>
          <a:prstGeom prst="round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2606040"/>
            <a:ext cx="187451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254E"/>
                </a:solidFill>
                <a:latin typeface="Aptos"/>
              </a:rPr>
              <a:t>Border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2880360"/>
            <a:ext cx="187451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#E2EAF3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3867911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0392" y="3886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386791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Typography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" y="4325112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Primary: Inter / Manrope
Headings: 28–40 px • Body: 15–17 px
Use weight and spacing before extra decoration.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3712" y="3867911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886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867911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Components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4325112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Rounded cards, restrained shadows, clear icons, consistent buttons and form states.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2440" y="3703320"/>
            <a:ext cx="34290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57031" y="3867911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57031" y="38862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808" y="3867911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Accessibility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325112"/>
            <a:ext cx="3026664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Readable contrast, large tap targets, keyboard focus, simple language and error recovery.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04  Information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Keep the navigation predictable; expose complexity only when needed.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3258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4904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476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Overview &amp; entry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258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53712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371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4748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Find Doctors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9476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Search → profile → booking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80" y="13258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48472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42248" y="14904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Appointments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476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Upcoming &amp;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1546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58952" y="33192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" y="33375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33192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Health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37764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Records, tracking, family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1546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53712" y="33192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53712" y="33375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47488" y="33192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Medicines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0288" y="37764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Prescriptions &amp; reminders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83880" y="3154680"/>
            <a:ext cx="342900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48472" y="33192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48472" y="33375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42248" y="33192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Assistant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5048" y="3776472"/>
            <a:ext cx="3026664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Health questions &amp; guidance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166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6C80"/>
                </a:solidFill>
                <a:latin typeface="Aptos"/>
              </a:rPr>
              <a:t>Global navigation rule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5321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254E"/>
                </a:solidFill>
                <a:latin typeface="Aptos"/>
              </a:rPr>
              <a:t>Top navigation = discovery • Dashboard = action • Profile/Settings =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05  Homepage UX/UI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The homepage should answer one question immediately: “What can Hovita do for me?”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81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A254E"/>
                </a:solidFill>
                <a:latin typeface="Aptos"/>
              </a:rPr>
              <a:t>Hovita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499616"/>
            <a:ext cx="5852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Find Doctors   Appointments   Health Records   Pharmacy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435608"/>
            <a:ext cx="640080" cy="329184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46920" y="1485900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78440" y="1435608"/>
            <a:ext cx="91440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78440" y="1485900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Get Started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Your Health.
One Simple Platform.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27248"/>
            <a:ext cx="4709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C80"/>
                </a:solidFill>
                <a:latin typeface="Aptos"/>
              </a:rPr>
              <a:t>Doctors, appointments, prescriptions, records and health guidance—connected in one secure ecosystem.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" y="3977639"/>
            <a:ext cx="123444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027931"/>
            <a:ext cx="12344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Find a Doctor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04288" y="3977639"/>
            <a:ext cx="132588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04288" y="402793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Explore Hovita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75120" y="1993392"/>
            <a:ext cx="3886200" cy="3337560"/>
          </a:xfrm>
          <a:prstGeom prst="roundRect">
            <a:avLst/>
          </a:prstGeom>
          <a:solidFill>
            <a:srgbClr val="F6F9FC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3317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Good morning 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95160" y="2743200"/>
            <a:ext cx="3246120" cy="475488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0" y="2880360"/>
            <a:ext cx="2926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🔍 Search doctors, symptoms...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95160" y="342900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96328" y="359359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Doctors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41080" y="342900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42248" y="3593592"/>
            <a:ext cx="1097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Appointments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95160" y="420624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96328" y="4370831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Records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41080" y="4206240"/>
            <a:ext cx="146304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42248" y="4370831"/>
            <a:ext cx="10972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Assistant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06  Patient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Action-first: the user sees what matters today before everything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10972800" cy="4983480"/>
          </a:xfrm>
          <a:prstGeom prst="roundRect">
            <a:avLst/>
          </a:prstGeom>
          <a:solidFill>
            <a:srgbClr val="F6F9FC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5BC7"/>
                </a:solidFill>
                <a:latin typeface="Aptos"/>
              </a:rPr>
              <a:t>HOVITA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Good morning, Raju 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829800" y="1417320"/>
            <a:ext cx="1325880" cy="329184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29800" y="14676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Ask Hovita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011680"/>
            <a:ext cx="10424160" cy="50292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157984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Aptos"/>
              </a:rPr>
              <a:t>🔍  Search doctors, symptoms, hospitals, medicines...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88920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78992" y="295351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9718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72768" y="295351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Upcoming Appointment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" y="3410712"/>
            <a:ext cx="4489703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Dr. Rahul Sharma • Cardiology
Today • 03:00 PM                         [Join Consultation]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35040" y="2788920"/>
            <a:ext cx="489204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199631" y="295351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9631" y="29718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2953512"/>
            <a:ext cx="4069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Medicine Reminder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3410712"/>
            <a:ext cx="4489703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Vitamin D • Today • 08:00 PM
Next: Tomorrow • 08:00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34340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78992" y="450799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5262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5079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Health Records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965192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Reports &amp; prescriptions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520440" y="434340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85032" y="450799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85032" y="45262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78808" y="4507992"/>
            <a:ext cx="1508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Family Health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21608" y="4965192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Manage family members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34340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91072" y="450799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91072" y="45262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4848" y="4507992"/>
            <a:ext cx="1508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Health Tracking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27648" y="4965192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Vitals &amp; activity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732520" y="4343400"/>
            <a:ext cx="23317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897112" y="450799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97112" y="45262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90888" y="4507992"/>
            <a:ext cx="150875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Vaccinations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3688" y="4965192"/>
            <a:ext cx="1929384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Upcoming doses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07  Doctor Search &amp;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Search should feel fast, transparent and trustworthy.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80160"/>
            <a:ext cx="224028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58952" y="1444751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463039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444751"/>
            <a:ext cx="1417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1901952"/>
            <a:ext cx="1837944" cy="3730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Specialty
Location
Experience
Language
Consultation type
Availability
Rating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08960" y="1325880"/>
            <a:ext cx="818387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73552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7355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👨‍⚕️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1490472"/>
            <a:ext cx="7360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Dr. Rahul Sharma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1947672"/>
            <a:ext cx="77815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Cardiologist • 12 yrs
★★★★★ 4.9     ₹800     🟢 Available today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012680" y="1993391"/>
            <a:ext cx="96012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12680" y="204368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View Profile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108960" y="2743200"/>
            <a:ext cx="818387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73552" y="290779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73552" y="29260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👨‍⚕️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67328" y="2907792"/>
            <a:ext cx="7360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Dr. Ananya Singh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10128" y="3364992"/>
            <a:ext cx="77815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Dermatologist • 9 yrs
★★★★★ 4.9     ₹600     🟢 Available today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12680" y="3410712"/>
            <a:ext cx="96012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12680" y="3461004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View Profile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08960" y="4160520"/>
            <a:ext cx="818387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273552" y="432511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73552" y="434340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👨‍⚕️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67328" y="4325112"/>
            <a:ext cx="73609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Dr. Vikram Rao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10128" y="4782312"/>
            <a:ext cx="778154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General Physician • 15 yrs
★★★★★ 4.9     ₹500     🟢 Available today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012680" y="4828031"/>
            <a:ext cx="960120" cy="329184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4878323"/>
            <a:ext cx="960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View 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5532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C80"/>
                </a:solidFill>
                <a:latin typeface="Aptos"/>
              </a:rPr>
              <a:t>Trust signals: verified credentials • transparent fee • availability • languages • patient 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08  Appointment Booking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Reduce booking friction with a 4-step progressive flow.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828800"/>
            <a:ext cx="685800" cy="685800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2996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788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Doctor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182879" y="318211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Choose verified provider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4752" y="2167128"/>
            <a:ext cx="1984248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520439" y="1828800"/>
            <a:ext cx="685800" cy="685800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39" y="202996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2788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39" y="318211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Select available slot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33672" y="2167128"/>
            <a:ext cx="1984248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9359" y="1828800"/>
            <a:ext cx="685800" cy="685800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202996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199" y="2788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Visit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94959" y="318211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Video or clinic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22592" y="2167128"/>
            <a:ext cx="1984248" cy="254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098280" y="1828800"/>
            <a:ext cx="685800" cy="685800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98280" y="2029968"/>
            <a:ext cx="685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278892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Confirm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3182112"/>
            <a:ext cx="2606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B6C80"/>
                </a:solidFill>
                <a:latin typeface="Aptos"/>
              </a:rPr>
              <a:t>Payment + reminder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34340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6C80"/>
                </a:solidFill>
                <a:latin typeface="Aptos"/>
              </a:rPr>
              <a:t>Confirmation screen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4754880"/>
            <a:ext cx="105156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1832" y="4919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" y="4937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35607" y="4919472"/>
            <a:ext cx="9692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Appointment confirmed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8408" y="5376672"/>
            <a:ext cx="1011326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Dr. Rahul Sharma • Cardiology • 19 Aug • 03:00 PM
[Add to calendar]    [Join consultation]    [View details]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09  AI Health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AI should guide, explain and connect—not overwhelm or pretend to replace clinicians.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65760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experience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255264" cy="3502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Ask in natural language.
• Explain a lab report
• Find relevant care options
• Prepare questions for a doctor
• Summarize health records
• Remind and guide users
Safety: clear medical disclaimer, escalation to a professional and emergency guidance when appropriate.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1325880"/>
            <a:ext cx="6812280" cy="4251960"/>
          </a:xfrm>
          <a:prstGeom prst="roundRect">
            <a:avLst/>
          </a:prstGeom>
          <a:solidFill>
            <a:srgbClr val="F6F9FC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Hovita 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148840"/>
            <a:ext cx="429768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56631" y="2313432"/>
            <a:ext cx="384048" cy="384048"/>
          </a:xfrm>
          <a:prstGeom prst="ellipse">
            <a:avLst/>
          </a:prstGeom>
          <a:solidFill>
            <a:srgbClr val="5B6C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56631" y="2331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50407" y="2313432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93207" y="2770632"/>
            <a:ext cx="3895344" cy="2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I have a headache since morning.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3063240"/>
            <a:ext cx="43891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11112" y="322783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11112" y="32461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04888" y="3227832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Hovita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3685032"/>
            <a:ext cx="3986783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I can help you understand common possibilities and what information may be useful for a clinician. If symptoms are severe or sudden, seek urgent medical care.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92040" y="4709160"/>
            <a:ext cx="301752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475945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Ask a follow-up question…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149840" y="4709160"/>
            <a:ext cx="64008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49840" y="4759452"/>
            <a:ext cx="6400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Send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10  Health Records &amp; Family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Turn scattered medical documents into an organized personal health timeline.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Health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4901183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[ All ]   [ Reports ]   [ Prescriptions ]   [ Lab Results ]
Blood Test • 12 Aug 2026
View report →
Prescription • 10 Aug 2026
Dr. Rahul Sharma
View prescription →
+ Upload medical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1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👨‍👩‍👧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2007" y="1490472"/>
            <a:ext cx="4480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Family Health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7" y="1947672"/>
            <a:ext cx="4901183" cy="3685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You             ● Healthy
Mother          ● 2 medicine reminders
Father          ● Appointment tomorrow
Child           ● Vaccination due
Permissions should be explicit: who can see which record, and why.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11  Doctor / Provider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The provider experience should optimize time, context and workflow.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5145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12 appointments
3 video consultations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416552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0328" y="149047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47672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New: 4
Follow-up: 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63840" y="1325880"/>
            <a:ext cx="33375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28431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2843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8" y="1490472"/>
            <a:ext cx="251459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65008" y="1947672"/>
            <a:ext cx="2935224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5 prescriptions
2 reports to review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800"/>
            <a:ext cx="516636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13639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1546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13639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Appointment Queue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593592"/>
            <a:ext cx="4764024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09:00  •  General consult  •  Confirmed
10:30  •  Video consult    •  Waiting
12:00  •  Follow-up         •  Confirmed
Actions: View patient → Start consultation → Prescribe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080760" y="2971800"/>
            <a:ext cx="5120640" cy="2697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45352" y="313639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45352" y="31546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39128" y="3136392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Patient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81928" y="3593592"/>
            <a:ext cx="4718303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Recent visits • allergies • medications
Lab trends • uploaded records • notes
Show only relevant information at the point of care. Avoid information overload.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12  Mobile-First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Healthcare journeys often happen on the phone. Design the mobile experience first.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13258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Home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14884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A254E"/>
                </a:solidFill>
                <a:latin typeface="Aptos"/>
              </a:rPr>
              <a:t>Good morning 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2560320"/>
            <a:ext cx="1691640" cy="411480"/>
          </a:xfrm>
          <a:prstGeom prst="roundRect">
            <a:avLst/>
          </a:prstGeom>
          <a:solidFill>
            <a:srgbClr val="F6F9FC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679192"/>
            <a:ext cx="1371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B6C80"/>
                </a:solidFill>
                <a:latin typeface="Aptos"/>
              </a:rPr>
              <a:t>🔍 Search...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154680"/>
            <a:ext cx="80467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35608" y="3319272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Doctors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130552" y="3154680"/>
            <a:ext cx="80467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31720" y="3319272"/>
            <a:ext cx="438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Records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34440" y="3813048"/>
            <a:ext cx="80467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35608" y="3977639"/>
            <a:ext cx="4389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Medicines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813048"/>
            <a:ext cx="804672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3977639"/>
            <a:ext cx="4389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53949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⌂     ◉     +     ♥     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069080" y="13258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Appointments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214884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62272" y="231343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62272" y="2331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56048" y="231343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Today • 03:00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8" y="2770632"/>
            <a:ext cx="128930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Dr. Rahul Sharma
[Join]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297680" y="3337560"/>
            <a:ext cx="1691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62272" y="350215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2" y="352044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56048" y="3502152"/>
            <a:ext cx="868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Tomorrow • 11:00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3959352"/>
            <a:ext cx="1289304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Lab test
[Directions]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70248" y="53949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⌂     ◉     +     ♥     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1325880"/>
            <a:ext cx="21488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6092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254E"/>
                </a:solidFill>
                <a:latin typeface="Aptos"/>
              </a:rPr>
              <a:t>Health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60920" y="2148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525512" y="231343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2331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19288" y="2313432"/>
            <a:ext cx="868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Health Overview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2770632"/>
            <a:ext cx="1289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BP 118/78
Steps 6,240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360920" y="3291840"/>
            <a:ext cx="16916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525512" y="345643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25512" y="3474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19288" y="3456432"/>
            <a:ext cx="8686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Medicines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62088" y="3913632"/>
            <a:ext cx="128930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Vitamin D
08:00 PM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33488" y="5394960"/>
            <a:ext cx="1737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Aptos"/>
              </a:rPr>
              <a:t>⌂     ◉     +     ♥     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C80"/>
                </a:solidFill>
                <a:latin typeface="Aptos"/>
              </a:rPr>
              <a:t>Responsive rules: large tap targets • minimal forms • bottom navigation • persistent search • accessible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13  Core User Journeys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Good UX is visible in the number of confident steps—not the number of features.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32588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473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Find care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130759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Search → Filter → Profile → Slot → Confirm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856232"/>
            <a:ext cx="8641080" cy="127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132588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4485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Manage health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26771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Dashboard → Records → Report → Share / Save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331720" y="2816352"/>
            <a:ext cx="8641080" cy="127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154680"/>
            <a:ext cx="132588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20497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Consult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322783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Appointment → Pre-check → Video → Prescription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31720" y="3776472"/>
            <a:ext cx="8641080" cy="127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4114800"/>
            <a:ext cx="132588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65091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Family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418795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Family → Member → Permission → Health timeline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31720" y="4736592"/>
            <a:ext cx="8641080" cy="12700"/>
          </a:xfrm>
          <a:prstGeom prst="rect">
            <a:avLst/>
          </a:prstGeom>
          <a:solidFill>
            <a:srgbClr val="E2EA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1520" y="5074920"/>
            <a:ext cx="132588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125212"/>
            <a:ext cx="1325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Medicine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14807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A254E"/>
                </a:solidFill>
                <a:latin typeface="Aptos"/>
              </a:rPr>
              <a:t>Prescription → Reminder → Pharmacy → Delivery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14  Trust, Privacy &amp; Safety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Healthcare UX must make security understandable—not invisible.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Consent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Explain what data is used, why, and who can access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Access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Role-based access for patient, doctor, provider and admin.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4904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Encryption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Protect data in transit and at rest.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832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5478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5661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547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Auditability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0050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Make sensitive activity traceable and reviewable.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832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9432" y="35478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5661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35478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Safety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40050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AI escalation, clear limitations and human-care pathways.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832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35478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5661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35478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Recovery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40050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Reliable backups, session controls and account recovery.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" y="56235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C80"/>
                </a:solidFill>
                <a:latin typeface="Aptos"/>
              </a:rPr>
              <a:t>Design goal: users should understand the safety model without needing to understand the infrastructure.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15  Component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Build reusable components so the product can scale without visual inconsistency.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Buttons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Primary / secondary / danger / disabled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Cards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Doctor / appointment / record / health metric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4904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47672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Search / booking / upload / consent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2918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45643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474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4564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Status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913631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Available / pending / completed / urgent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2918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9432" y="345643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474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34564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Navigation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913631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Desktop navbar / mobile bottom nav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291839"/>
            <a:ext cx="34290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345643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47472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UI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345643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Feedback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3913631"/>
            <a:ext cx="3026664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Toast / modal / empty state / error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16  Web Product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Build the experience in layers: core value first, ecosystem depth later.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105156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8473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27101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54E"/>
                </a:solidFill>
                <a:latin typeface="Aptos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27101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80"/>
                </a:solidFill>
                <a:latin typeface="Aptos"/>
              </a:rPr>
              <a:t>Brand system • responsive shell • auth • patient dashboard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194560"/>
            <a:ext cx="105156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4485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Phase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2311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54E"/>
                </a:solidFill>
                <a:latin typeface="Aptos"/>
              </a:rPr>
              <a:t>Care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3113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80"/>
                </a:solidFill>
                <a:latin typeface="Aptos"/>
              </a:rPr>
              <a:t>Doctor search • profiles • appointment booking • video flow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54680"/>
            <a:ext cx="105156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497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1912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54E"/>
                </a:solidFill>
                <a:latin typeface="Aptos"/>
              </a:rPr>
              <a:t>Health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19125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80"/>
                </a:solidFill>
                <a:latin typeface="Aptos"/>
              </a:rPr>
              <a:t>Records • prescriptions • reminders • family health • tracking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114800"/>
            <a:ext cx="1051560" cy="329184"/>
          </a:xfrm>
          <a:prstGeom prst="roundRect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165091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Phase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41513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54E"/>
                </a:solidFill>
                <a:latin typeface="Aptos"/>
              </a:rPr>
              <a:t>Intelligence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15137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80"/>
                </a:solidFill>
                <a:latin typeface="Aptos"/>
              </a:rPr>
              <a:t>AI assistant • smart search • personalized insights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074920"/>
            <a:ext cx="1051560" cy="329184"/>
          </a:xfrm>
          <a:prstGeom prst="roundRect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125212"/>
            <a:ext cx="1051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Phase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51114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A254E"/>
                </a:solidFill>
                <a:latin typeface="Aptos"/>
              </a:rPr>
              <a:t>Ecosystem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111496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B6C80"/>
                </a:solidFill>
                <a:latin typeface="Aptos"/>
              </a:rPr>
              <a:t>Provider dashboard • labs • pharmacy • insurance •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A254E"/>
                </a:solidFill>
                <a:latin typeface="Aptos"/>
              </a:rPr>
              <a:t>17  UX 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41248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5B6C80"/>
                </a:solidFill>
                <a:latin typeface="Aptos"/>
              </a:rPr>
              <a:t>Measure whether the design actually improves healthcare journeys.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1" y="149047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Search → booking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Conversion rate
Does discovery lead to care?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9432" y="149047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149047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Booking completion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Drop-off rate
Where do users abandon?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0" y="132588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94192" y="149047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50876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87968" y="149047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Time to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194767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Seconds / minutes
Can users find the next step quickly?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3375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04671" y="350215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" y="352044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3502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Record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395935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Task success
Can users locate the right document?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34840" y="33375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99432" y="3502152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9432" y="352044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93208" y="35021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handoff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6008" y="395935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Safe escalation
Does AI route users appropriately?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0" y="3337560"/>
            <a:ext cx="342900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94192" y="3502152"/>
            <a:ext cx="384048" cy="384048"/>
          </a:xfrm>
          <a:prstGeom prst="ellipse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94192" y="352044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3502152"/>
            <a:ext cx="2606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30768" y="3959352"/>
            <a:ext cx="3026664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5B6C80"/>
                </a:solidFill>
                <a:latin typeface="Aptos"/>
              </a:rPr>
              <a:t>Consent / retention
Do users feel in control?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5577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A254E"/>
                </a:solidFill>
                <a:latin typeface="Aptos"/>
              </a:rPr>
              <a:t>The north-star outcome: more people successfully reach the right healthcare service with less friction.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6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"/>
              </a:rPr>
              <a:t>HOVITA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7276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A254E"/>
                </a:solidFill>
                <a:latin typeface="Aptos"/>
              </a:rPr>
              <a:t>Healthy Life, Simplified.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3317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6C80"/>
                </a:solidFill>
                <a:latin typeface="Aptos"/>
              </a:rPr>
              <a:t>The design direction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43200"/>
            <a:ext cx="51663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50392" y="2907792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926080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44168" y="2907792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One simple healthcare journey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3273552"/>
            <a:ext cx="51663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3438144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456432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44168" y="3438144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Trust at every interaction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803904"/>
            <a:ext cx="51663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50392" y="3968496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86784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3968496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AI that assists responsibly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34256"/>
            <a:ext cx="51663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4498848"/>
            <a:ext cx="384048" cy="384048"/>
          </a:xfrm>
          <a:prstGeom prst="ellipse">
            <a:avLst/>
          </a:prstGeom>
          <a:solidFill>
            <a:srgbClr val="1F9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517136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44168" y="4498848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Accessible across devices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864608"/>
            <a:ext cx="5166360" cy="4297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A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50392" y="5029200"/>
            <a:ext cx="384048" cy="384048"/>
          </a:xfrm>
          <a:prstGeom prst="ellipse">
            <a:avLst/>
          </a:prstGeom>
          <a:solidFill>
            <a:srgbClr val="145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" y="5047488"/>
            <a:ext cx="3840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44168" y="5029200"/>
            <a:ext cx="4343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A254E"/>
                </a:solidFill>
                <a:latin typeface="Aptos"/>
              </a:rPr>
              <a:t>Built to scale as an ecosystem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331720"/>
            <a:ext cx="4754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A254E"/>
                </a:solidFill>
                <a:latin typeface="Aptos"/>
              </a:rPr>
              <a:t>Hovita is not just an app,
it is a health companion for life.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977639"/>
            <a:ext cx="2468880" cy="329184"/>
          </a:xfrm>
          <a:prstGeom prst="roundRect">
            <a:avLst/>
          </a:prstGeom>
          <a:solidFill>
            <a:srgbClr val="0A2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43800" y="4027931"/>
            <a:ext cx="24688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Aptos"/>
              </a:rPr>
              <a:t>YOUR HEALTH. OUR PRIORITY.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48006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>
                <a:solidFill>
                  <a:srgbClr val="145BC7"/>
                </a:solidFill>
                <a:latin typeface="Aptos"/>
              </a:rPr>
              <a:t>Thank you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9672"/>
            <a:ext cx="5486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Aptos"/>
              </a:rPr>
              <a:t>Hovita — Healthy Life, Simplified.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5B6C80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